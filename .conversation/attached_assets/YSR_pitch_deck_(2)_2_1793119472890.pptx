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Parents (of 32)</c:v>
                </c:pt>
              </c:strCache>
            </c:strRef>
          </c:tx>
          <c:spPr>
            <a:solidFill>
              <a:srgbClr val="7DB6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02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Friends/family</c:v>
                  </c:pt>
                  <c:pt idx="1">
                    <c:v>Instagram</c:v>
                  </c:pt>
                  <c:pt idx="2">
                    <c:v>TikTok</c:v>
                  </c:pt>
                  <c:pt idx="3">
                    <c:v>Google search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13</c:v>
                </c:pt>
                <c:pt idx="2">
                  <c:v>12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02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02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EEE6"/>
        </a:solidFill>
        <a:ln>
          <a:noFill/>
        </a:ln>
        <a:effectLst/>
      </c:spPr>
    </c:plotArea>
    <c:plotVisOnly val="1"/>
    <c:dispBlanksAs val="span"/>
  </c:chart>
  <c:spPr>
    <a:solidFill>
      <a:srgbClr val="F4EEE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Parents (of 32)</c:v>
                </c:pt>
              </c:strCache>
            </c:strRef>
          </c:tx>
          <c:spPr>
            <a:solidFill>
              <a:srgbClr val="EE99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02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Search by location</c:v>
                  </c:pt>
                  <c:pt idx="1">
                    <c:v>Compare prices</c:v>
                  </c:pt>
                  <c:pt idx="2">
                    <c:v>Parent reviews</c:v>
                  </c:pt>
                  <c:pt idx="3">
                    <c:v>Search by interests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24</c:v>
                </c:pt>
                <c:pt idx="2">
                  <c:v>20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02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02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EEE6"/>
        </a:solidFill>
        <a:ln>
          <a:noFill/>
        </a:ln>
        <a:effectLst/>
      </c:spPr>
    </c:plotArea>
    <c:plotVisOnly val="1"/>
    <c:dispBlanksAs val="span"/>
  </c:chart>
  <c:spPr>
    <a:solidFill>
      <a:srgbClr val="F4EEE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(SAR, millions)</c:v>
                </c:pt>
              </c:strCache>
            </c:strRef>
          </c:tx>
          <c:spPr>
            <a:solidFill>
              <a:srgbClr val="EE99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025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</c:v>
                </c:pt>
                <c:pt idx="1">
                  <c:v>0.86</c:v>
                </c:pt>
                <c:pt idx="2">
                  <c:v>2.57</c:v>
                </c:pt>
                <c:pt idx="3">
                  <c:v>6.03</c:v>
                </c:pt>
                <c:pt idx="4">
                  <c:v>12.67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025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Income (SAR, millions)</c:v>
                </c:pt>
              </c:strCache>
            </c:strRef>
          </c:tx>
          <c:spPr>
            <a:solidFill>
              <a:srgbClr val="1F2025"/>
            </a:solidFill>
            <a:ln w="38100" cap="flat">
              <a:solidFill>
                <a:srgbClr val="1F202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025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2025"/>
              </a:solidFill>
              <a:ln w="9525" cap="flat">
                <a:solidFill>
                  <a:srgbClr val="1F202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-1.75</c:v>
                </c:pt>
                <c:pt idx="1">
                  <c:v>-2.17</c:v>
                </c:pt>
                <c:pt idx="2">
                  <c:v>-2.04</c:v>
                </c:pt>
                <c:pt idx="3">
                  <c:v>-0.92</c:v>
                </c:pt>
                <c:pt idx="4">
                  <c:v>2.36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025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02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5C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575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5750"/>
                    </a:solidFill>
                    <a:latin typeface="Arial"/>
                  </a:rPr>
                  <a:t>SAR (millions)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025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EEE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F2025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solidFill>
      <a:srgbClr val="F4EEE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82296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0" y="36118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995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يسر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828800" y="434340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children's activities easier to discover.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 Pitch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Finding the Right Activity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Shouldn't Be This Hard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2600" y="242316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6920" y="2697480"/>
            <a:ext cx="502920" cy="502920"/>
          </a:xfrm>
          <a:prstGeom prst="ellipse">
            <a:avLst/>
          </a:prstGeom>
          <a:solidFill>
            <a:srgbClr val="7DB6F2"/>
          </a:solidFill>
          <a:ln/>
        </p:spPr>
      </p:sp>
      <p:sp>
        <p:nvSpPr>
          <p:cNvPr id="6" name="Text 4"/>
          <p:cNvSpPr/>
          <p:nvPr/>
        </p:nvSpPr>
        <p:spPr>
          <a:xfrm>
            <a:off x="9569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956920" y="3383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Scattered Information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6920" y="402336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Families search Instagram, Google, WhatsApp, and dozens of separate websites.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3232" y="242316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27552" y="2697480"/>
            <a:ext cx="502920" cy="502920"/>
          </a:xfrm>
          <a:prstGeom prst="ellipse">
            <a:avLst/>
          </a:prstGeom>
          <a:solidFill>
            <a:srgbClr val="7DB6F2"/>
          </a:solidFill>
          <a:ln/>
        </p:spPr>
      </p:sp>
      <p:sp>
        <p:nvSpPr>
          <p:cNvPr id="11" name="Text 9"/>
          <p:cNvSpPr/>
          <p:nvPr/>
        </p:nvSpPr>
        <p:spPr>
          <a:xfrm>
            <a:off x="372755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727552" y="3383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 to Compare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27552" y="402336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Prices, locations, age groups, and schedules aren't organized consistently.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3864" y="242316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8184" y="2697480"/>
            <a:ext cx="502920" cy="502920"/>
          </a:xfrm>
          <a:prstGeom prst="ellipse">
            <a:avLst/>
          </a:prstGeom>
          <a:solidFill>
            <a:srgbClr val="7DB6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98184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498184" y="3383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 Awareness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8184" y="402336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Families often don't know about great local activities near them.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4496" y="242316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68816" y="2697480"/>
            <a:ext cx="502920" cy="502920"/>
          </a:xfrm>
          <a:prstGeom prst="ellipse">
            <a:avLst/>
          </a:prstGeom>
          <a:solidFill>
            <a:srgbClr val="7DB6F2"/>
          </a:solidFill>
          <a:ln/>
        </p:spPr>
      </p:sp>
      <p:sp>
        <p:nvSpPr>
          <p:cNvPr id="21" name="Text 19"/>
          <p:cNvSpPr/>
          <p:nvPr/>
        </p:nvSpPr>
        <p:spPr>
          <a:xfrm>
            <a:off x="9268816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268816" y="3383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Consuming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68816" y="402336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the right fit for a child takes far too much searching.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Place to Discover, Compare &amp; 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2328" y="2286000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2328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Families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2328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Parents seeking activities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01872" y="2852928"/>
            <a:ext cx="256032" cy="230429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8" name="Shape 6"/>
          <p:cNvSpPr/>
          <p:nvPr/>
        </p:nvSpPr>
        <p:spPr>
          <a:xfrm>
            <a:off x="4724248" y="2286000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EE995F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4248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24248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9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· Compare · Book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3792" y="2852928"/>
            <a:ext cx="256032" cy="230429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8656168" y="2286000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56168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56168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organizers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26668" y="4572000"/>
            <a:ext cx="2194560" cy="685800"/>
          </a:xfrm>
          <a:prstGeom prst="roundRect">
            <a:avLst>
              <a:gd name="adj" fmla="val 16000"/>
            </a:avLst>
          </a:prstGeom>
          <a:solidFill>
            <a:srgbClr val="FAF9F7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6668" y="4572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53232" y="4796028"/>
            <a:ext cx="256032" cy="230429"/>
          </a:xfrm>
          <a:prstGeom prst="chevron">
            <a:avLst/>
          </a:prstGeom>
          <a:solidFill>
            <a:srgbClr val="EE995F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1268" y="4572000"/>
            <a:ext cx="2194560" cy="685800"/>
          </a:xfrm>
          <a:prstGeom prst="roundRect">
            <a:avLst>
              <a:gd name="adj" fmla="val 16000"/>
            </a:avLst>
          </a:prstGeom>
          <a:solidFill>
            <a:srgbClr val="FAF9F7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1268" y="4572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67832" y="4796028"/>
            <a:ext cx="256032" cy="230429"/>
          </a:xfrm>
          <a:prstGeom prst="chevron">
            <a:avLst/>
          </a:prstGeom>
          <a:solidFill>
            <a:srgbClr val="EE995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5868" y="4572000"/>
            <a:ext cx="2194560" cy="685800"/>
          </a:xfrm>
          <a:prstGeom prst="roundRect">
            <a:avLst>
              <a:gd name="adj" fmla="val 16000"/>
            </a:avLst>
          </a:prstGeom>
          <a:solidFill>
            <a:srgbClr val="FAF9F7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5868" y="4572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82432" y="4796028"/>
            <a:ext cx="256032" cy="230429"/>
          </a:xfrm>
          <a:prstGeom prst="chevron">
            <a:avLst/>
          </a:prstGeom>
          <a:solidFill>
            <a:srgbClr val="EE995F"/>
          </a:solidFill>
          <a:ln/>
        </p:spPr>
      </p:sp>
      <p:sp>
        <p:nvSpPr>
          <p:cNvPr id="24" name="Shape 22"/>
          <p:cNvSpPr/>
          <p:nvPr/>
        </p:nvSpPr>
        <p:spPr>
          <a:xfrm>
            <a:off x="8770468" y="4572000"/>
            <a:ext cx="2194560" cy="685800"/>
          </a:xfrm>
          <a:prstGeom prst="roundRect">
            <a:avLst>
              <a:gd name="adj" fmla="val 16000"/>
            </a:avLst>
          </a:prstGeom>
          <a:solidFill>
            <a:srgbClr val="FAF9F7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0468" y="4572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Simple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2328" y="2651760"/>
            <a:ext cx="2377440" cy="3017520"/>
          </a:xfrm>
          <a:prstGeom prst="roundRect">
            <a:avLst>
              <a:gd name="adj" fmla="val 5385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06728" y="2377440"/>
            <a:ext cx="548640" cy="548640"/>
          </a:xfrm>
          <a:prstGeom prst="ellipse">
            <a:avLst/>
          </a:prstGeom>
          <a:solidFill>
            <a:srgbClr val="EE995F"/>
          </a:solidFill>
          <a:ln/>
        </p:spPr>
      </p:sp>
      <p:sp>
        <p:nvSpPr>
          <p:cNvPr id="6" name="Text 4"/>
          <p:cNvSpPr/>
          <p:nvPr/>
        </p:nvSpPr>
        <p:spPr>
          <a:xfrm>
            <a:off x="170672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975208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0928" y="36576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activities by age, category, and location.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33776" y="4041648"/>
            <a:ext cx="237744" cy="213970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10" name="Shape 8"/>
          <p:cNvSpPr/>
          <p:nvPr/>
        </p:nvSpPr>
        <p:spPr>
          <a:xfrm>
            <a:off x="3535528" y="2651760"/>
            <a:ext cx="2377440" cy="3017520"/>
          </a:xfrm>
          <a:prstGeom prst="roundRect">
            <a:avLst>
              <a:gd name="adj" fmla="val 5385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49928" y="2377440"/>
            <a:ext cx="548640" cy="548640"/>
          </a:xfrm>
          <a:prstGeom prst="ellipse">
            <a:avLst/>
          </a:prstGeom>
          <a:solidFill>
            <a:srgbClr val="EE995F"/>
          </a:solidFill>
          <a:ln/>
        </p:spPr>
      </p:sp>
      <p:sp>
        <p:nvSpPr>
          <p:cNvPr id="12" name="Text 10"/>
          <p:cNvSpPr/>
          <p:nvPr/>
        </p:nvSpPr>
        <p:spPr>
          <a:xfrm>
            <a:off x="444992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3718408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 &amp; Compare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4128" y="36576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pricing, schedules, and reviews side by side.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76976" y="4041648"/>
            <a:ext cx="237744" cy="213970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8728" y="2651760"/>
            <a:ext cx="2377440" cy="3017520"/>
          </a:xfrm>
          <a:prstGeom prst="roundRect">
            <a:avLst>
              <a:gd name="adj" fmla="val 5385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93128" y="2377440"/>
            <a:ext cx="548640" cy="548640"/>
          </a:xfrm>
          <a:prstGeom prst="ellipse">
            <a:avLst/>
          </a:prstGeom>
          <a:solidFill>
            <a:srgbClr val="EE995F"/>
          </a:solidFill>
          <a:ln/>
        </p:spPr>
      </p:sp>
      <p:sp>
        <p:nvSpPr>
          <p:cNvPr id="18" name="Text 16"/>
          <p:cNvSpPr/>
          <p:nvPr/>
        </p:nvSpPr>
        <p:spPr>
          <a:xfrm>
            <a:off x="719312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61608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07328" y="36576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and pay securely, right in the app.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20176" y="4041648"/>
            <a:ext cx="237744" cy="213970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9021928" y="2651760"/>
            <a:ext cx="2377440" cy="3017520"/>
          </a:xfrm>
          <a:prstGeom prst="roundRect">
            <a:avLst>
              <a:gd name="adj" fmla="val 5385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36328" y="2377440"/>
            <a:ext cx="548640" cy="548640"/>
          </a:xfrm>
          <a:prstGeom prst="ellipse">
            <a:avLst/>
          </a:prstGeom>
          <a:solidFill>
            <a:srgbClr val="EE995F"/>
          </a:solidFill>
          <a:ln/>
        </p:spPr>
      </p:sp>
      <p:sp>
        <p:nvSpPr>
          <p:cNvPr id="24" name="Text 22"/>
          <p:cNvSpPr/>
          <p:nvPr/>
        </p:nvSpPr>
        <p:spPr>
          <a:xfrm>
            <a:off x="993632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9204808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Enjoy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50528" y="36576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child attends — you track it all in one place.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SERVE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Sides, One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8048" y="2286000"/>
            <a:ext cx="3291840" cy="3566160"/>
          </a:xfrm>
          <a:prstGeom prst="roundRect">
            <a:avLst>
              <a:gd name="adj" fmla="val 3889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12368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B6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Families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2368" y="3200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Parents of children ages 7-13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Searching for trustworthy activities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 simple, transparent booking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49928" y="2286000"/>
            <a:ext cx="3291840" cy="3566160"/>
          </a:xfrm>
          <a:prstGeom prst="roundRect">
            <a:avLst>
              <a:gd name="adj" fmla="val 3889"/>
            </a:avLst>
          </a:prstGeom>
          <a:solidFill>
            <a:srgbClr val="EE995F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24248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24248" y="3200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AF9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connector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AF9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+ booking engine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AF9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layer for both sides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61808" y="2286000"/>
            <a:ext cx="3291840" cy="3566160"/>
          </a:xfrm>
          <a:prstGeom prst="roundRect">
            <a:avLst>
              <a:gd name="adj" fmla="val 3889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6128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92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36128" y="3200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 academies &amp; tutors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Art, music &amp; camp organizers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 more visibility &amp; bookings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Growing Market of Families Looking for More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5168" y="2331720"/>
            <a:ext cx="3383280" cy="3383280"/>
          </a:xfrm>
          <a:prstGeom prst="roundRect">
            <a:avLst>
              <a:gd name="adj" fmla="val 3784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9488" y="260604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7DB6F2"/>
          </a:solidFill>
          <a:ln/>
        </p:spPr>
      </p:sp>
      <p:sp>
        <p:nvSpPr>
          <p:cNvPr id="6" name="Text 4"/>
          <p:cNvSpPr/>
          <p:nvPr/>
        </p:nvSpPr>
        <p:spPr>
          <a:xfrm>
            <a:off x="929488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9488" y="3291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SAR 12.6B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29488" y="42976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spend on children's paid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activities, ages 7-13, in KSA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4208" y="2331720"/>
            <a:ext cx="3383280" cy="3383280"/>
          </a:xfrm>
          <a:prstGeom prst="roundRect">
            <a:avLst>
              <a:gd name="adj" fmla="val 3784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8528" y="260604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EE995F"/>
          </a:solidFill>
          <a:ln/>
        </p:spPr>
      </p:sp>
      <p:sp>
        <p:nvSpPr>
          <p:cNvPr id="11" name="Text 9"/>
          <p:cNvSpPr/>
          <p:nvPr/>
        </p:nvSpPr>
        <p:spPr>
          <a:xfrm>
            <a:off x="4678528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78528" y="3291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SAR 3.0B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78528" y="42976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families already paying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activities, app-reachable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3248" y="2331720"/>
            <a:ext cx="3383280" cy="3383280"/>
          </a:xfrm>
          <a:prstGeom prst="roundRect">
            <a:avLst>
              <a:gd name="adj" fmla="val 3784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7568" y="260604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B592E8"/>
          </a:solidFill>
          <a:ln/>
        </p:spPr>
      </p:sp>
      <p:sp>
        <p:nvSpPr>
          <p:cNvPr id="16" name="Text 14"/>
          <p:cNvSpPr/>
          <p:nvPr/>
        </p:nvSpPr>
        <p:spPr>
          <a:xfrm>
            <a:off x="8427568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27568" y="3291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SAR 120M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427568" y="42976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Realistic capture by Year 3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platform operations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based on GASTAT population data and modeled assumptions on activity spend — to be refined with expanded survey data.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YSR Makes Money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8612" y="2651760"/>
            <a:ext cx="1965960" cy="1737360"/>
          </a:xfrm>
          <a:prstGeom prst="roundRect">
            <a:avLst>
              <a:gd name="adj" fmla="val 7368"/>
            </a:avLst>
          </a:prstGeom>
          <a:solidFill>
            <a:srgbClr val="7DB6F2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5772" y="2926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Family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5772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9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Books an activity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35428" y="3410712"/>
            <a:ext cx="219456" cy="197510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8" name="Shape 6"/>
          <p:cNvSpPr/>
          <p:nvPr/>
        </p:nvSpPr>
        <p:spPr>
          <a:xfrm>
            <a:off x="2945740" y="2651760"/>
            <a:ext cx="1965960" cy="1737360"/>
          </a:xfrm>
          <a:prstGeom prst="roundRect">
            <a:avLst>
              <a:gd name="adj" fmla="val 7368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82900" y="2926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82900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in-app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02556" y="3410712"/>
            <a:ext cx="219456" cy="197510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5112868" y="2651760"/>
            <a:ext cx="1965960" cy="1737360"/>
          </a:xfrm>
          <a:prstGeom prst="roundRect">
            <a:avLst>
              <a:gd name="adj" fmla="val 7368"/>
            </a:avLst>
          </a:prstGeom>
          <a:solidFill>
            <a:srgbClr val="EE995F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50028" y="2926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0028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9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booking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69684" y="3410712"/>
            <a:ext cx="219456" cy="197510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16" name="Shape 14"/>
          <p:cNvSpPr/>
          <p:nvPr/>
        </p:nvSpPr>
        <p:spPr>
          <a:xfrm>
            <a:off x="7279996" y="2651760"/>
            <a:ext cx="1965960" cy="1737360"/>
          </a:xfrm>
          <a:prstGeom prst="roundRect">
            <a:avLst>
              <a:gd name="adj" fmla="val 7368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17156" y="2926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Commission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17156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10-15% per booking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36812" y="3410712"/>
            <a:ext cx="219456" cy="197510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20" name="Shape 18"/>
          <p:cNvSpPr/>
          <p:nvPr/>
        </p:nvSpPr>
        <p:spPr>
          <a:xfrm>
            <a:off x="9447124" y="2651760"/>
            <a:ext cx="1965960" cy="1737360"/>
          </a:xfrm>
          <a:prstGeom prst="roundRect">
            <a:avLst>
              <a:gd name="adj" fmla="val 7368"/>
            </a:avLst>
          </a:prstGeom>
          <a:solidFill>
            <a:srgbClr val="B592E8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84284" y="2926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84284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9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payout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61008" y="4937760"/>
            <a:ext cx="4206240" cy="1051560"/>
          </a:xfrm>
          <a:prstGeom prst="roundRect">
            <a:avLst>
              <a:gd name="adj" fmla="val 12174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89608" y="5280660"/>
            <a:ext cx="365760" cy="365760"/>
          </a:xfrm>
          <a:prstGeom prst="ellipse">
            <a:avLst/>
          </a:prstGeom>
          <a:solidFill>
            <a:srgbClr val="EE995F"/>
          </a:solidFill>
          <a:ln/>
        </p:spPr>
      </p:sp>
      <p:sp>
        <p:nvSpPr>
          <p:cNvPr id="25" name="Text 23"/>
          <p:cNvSpPr/>
          <p:nvPr/>
        </p:nvSpPr>
        <p:spPr>
          <a:xfrm>
            <a:off x="2438248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Featured Listings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38248" y="5468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Sponsored placement for providers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24448" y="4937760"/>
            <a:ext cx="4206240" cy="1051560"/>
          </a:xfrm>
          <a:prstGeom prst="roundRect">
            <a:avLst>
              <a:gd name="adj" fmla="val 12174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53048" y="5280660"/>
            <a:ext cx="365760" cy="365760"/>
          </a:xfrm>
          <a:prstGeom prst="ellipse">
            <a:avLst/>
          </a:prstGeom>
          <a:solidFill>
            <a:srgbClr val="B592E8"/>
          </a:solidFill>
          <a:ln/>
        </p:spPr>
      </p:sp>
      <p:sp>
        <p:nvSpPr>
          <p:cNvPr id="29" name="Text 27"/>
          <p:cNvSpPr/>
          <p:nvPr/>
        </p:nvSpPr>
        <p:spPr>
          <a:xfrm>
            <a:off x="7101688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Provider Subscription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01688" y="5468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Future: management tools &amp; analytics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First Providers to a Growing City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2600" y="2514600"/>
            <a:ext cx="2514600" cy="3108960"/>
          </a:xfrm>
          <a:prstGeom prst="roundRect">
            <a:avLst>
              <a:gd name="adj" fmla="val 5091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8632" y="2770632"/>
            <a:ext cx="457200" cy="457200"/>
          </a:xfrm>
          <a:prstGeom prst="ellipse">
            <a:avLst/>
          </a:prstGeom>
          <a:solidFill>
            <a:srgbClr val="7DB6F2"/>
          </a:solidFill>
          <a:ln/>
        </p:spPr>
      </p:sp>
      <p:sp>
        <p:nvSpPr>
          <p:cNvPr id="6" name="Text 4"/>
          <p:cNvSpPr/>
          <p:nvPr/>
        </p:nvSpPr>
        <p:spPr>
          <a:xfrm>
            <a:off x="93863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8632" y="338328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Supply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8632" y="3886200"/>
            <a:ext cx="200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with activity providers; onboard with a clear commission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5488" y="3959352"/>
            <a:ext cx="219456" cy="197510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10" name="Shape 8"/>
          <p:cNvSpPr/>
          <p:nvPr/>
        </p:nvSpPr>
        <p:spPr>
          <a:xfrm>
            <a:off x="3453232" y="2514600"/>
            <a:ext cx="2514600" cy="3108960"/>
          </a:xfrm>
          <a:prstGeom prst="roundRect">
            <a:avLst>
              <a:gd name="adj" fmla="val 5091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9264" y="2770632"/>
            <a:ext cx="457200" cy="457200"/>
          </a:xfrm>
          <a:prstGeom prst="ellipse">
            <a:avLst/>
          </a:prstGeom>
          <a:solidFill>
            <a:srgbClr val="EE995F"/>
          </a:solidFill>
          <a:ln/>
        </p:spPr>
      </p:sp>
      <p:sp>
        <p:nvSpPr>
          <p:cNvPr id="12" name="Text 10"/>
          <p:cNvSpPr/>
          <p:nvPr/>
        </p:nvSpPr>
        <p:spPr>
          <a:xfrm>
            <a:off x="3709264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9264" y="338328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Launch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9264" y="3886200"/>
            <a:ext cx="200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in Riyadh, timed around a strong seasonal window like summer camps.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6120" y="3959352"/>
            <a:ext cx="219456" cy="197510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2514600"/>
            <a:ext cx="2514600" cy="3108960"/>
          </a:xfrm>
          <a:prstGeom prst="roundRect">
            <a:avLst>
              <a:gd name="adj" fmla="val 5091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2770632"/>
            <a:ext cx="457200" cy="457200"/>
          </a:xfrm>
          <a:prstGeom prst="ellipse">
            <a:avLst/>
          </a:prstGeom>
          <a:solidFill>
            <a:srgbClr val="B592E8"/>
          </a:solidFill>
          <a:ln/>
        </p:spPr>
      </p:sp>
      <p:sp>
        <p:nvSpPr>
          <p:cNvPr id="18" name="Text 16"/>
          <p:cNvSpPr/>
          <p:nvPr/>
        </p:nvSpPr>
        <p:spPr>
          <a:xfrm>
            <a:off x="6479896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9896" y="338328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Acquire Families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79896" y="3886200"/>
            <a:ext cx="200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media, parent influencers, referral rewards, and community events.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56752" y="3959352"/>
            <a:ext cx="219456" cy="197510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8994496" y="2514600"/>
            <a:ext cx="2514600" cy="3108960"/>
          </a:xfrm>
          <a:prstGeom prst="roundRect">
            <a:avLst>
              <a:gd name="adj" fmla="val 5091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50528" y="2770632"/>
            <a:ext cx="457200" cy="457200"/>
          </a:xfrm>
          <a:prstGeom prst="ellipse">
            <a:avLst/>
          </a:prstGeom>
          <a:solidFill>
            <a:srgbClr val="1F2025"/>
          </a:solidFill>
          <a:ln/>
        </p:spPr>
      </p:sp>
      <p:sp>
        <p:nvSpPr>
          <p:cNvPr id="24" name="Text 22"/>
          <p:cNvSpPr/>
          <p:nvPr/>
        </p:nvSpPr>
        <p:spPr>
          <a:xfrm>
            <a:off x="9250528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50528" y="338328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50528" y="3886200"/>
            <a:ext cx="200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categories, grow the provider network, then expand to new cities.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32 Parents Told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9488" y="1691640"/>
            <a:ext cx="3200400" cy="1783080"/>
          </a:xfrm>
          <a:prstGeom prst="roundRect">
            <a:avLst>
              <a:gd name="adj" fmla="val 7179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29488" y="18562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E99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03808" y="2651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 survey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responses collected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95648" y="1691640"/>
            <a:ext cx="3200400" cy="1783080"/>
          </a:xfrm>
          <a:prstGeom prst="roundRect">
            <a:avLst>
              <a:gd name="adj" fmla="val 7179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95648" y="18562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DB6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69968" y="2651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Rated a unified booking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at least useful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1808" y="1691640"/>
            <a:ext cx="3200400" cy="1783080"/>
          </a:xfrm>
          <a:prstGeom prst="roundRect">
            <a:avLst>
              <a:gd name="adj" fmla="val 7179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1808" y="18562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592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36128" y="2651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Called it “extremely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useful” — the top rating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5168" y="3474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parents discover activities today</a:t>
            </a:r>
            <a:endParaRPr lang="en-US" sz="11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55168" y="3794760"/>
          <a:ext cx="5212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6324448" y="3474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parents value most</a:t>
            </a:r>
            <a:endParaRPr lang="en-US" sz="115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324448" y="3794760"/>
          <a:ext cx="5212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YSR parent survey, n=32. Multi-select questions — figures show number of respondents selecting each option.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10312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NOT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6060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E99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Another Instagram Search.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011680" y="3749040"/>
            <a:ext cx="8168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YSR turns scattered word-of-mouth into one trusted, searchable, bookable marketplace — for both families and providers.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Families Choose YSR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23360" y="224028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EE995F"/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Social Media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Websites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971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Activities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2971800"/>
            <a:ext cx="10058400" cy="475488"/>
          </a:xfrm>
          <a:prstGeom prst="rect">
            <a:avLst/>
          </a:prstGeom>
          <a:solidFill>
            <a:srgbClr val="FAF9F7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971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Activities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2971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2971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971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5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18320" y="2971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4472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Options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34472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34472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5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0" y="34472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5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0" y="34472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9227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Booking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88720" y="3922776"/>
            <a:ext cx="10058400" cy="475488"/>
          </a:xfrm>
          <a:prstGeom prst="rect">
            <a:avLst/>
          </a:prstGeom>
          <a:solidFill>
            <a:srgbClr val="FAF9F7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39227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Booking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9227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0" y="39227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5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89520" y="39227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18320" y="39227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5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3982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43982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60720" y="43982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89520" y="43982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5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418320" y="43982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5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8737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88720" y="4873752"/>
            <a:ext cx="10058400" cy="475488"/>
          </a:xfrm>
          <a:prstGeom prst="rect">
            <a:avLst/>
          </a:prstGeom>
          <a:solidFill>
            <a:srgbClr val="FAF9F7"/>
          </a:solidFill>
          <a:ln/>
        </p:spPr>
      </p:sp>
      <p:sp>
        <p:nvSpPr>
          <p:cNvPr id="35" name="Text 33"/>
          <p:cNvSpPr/>
          <p:nvPr/>
        </p:nvSpPr>
        <p:spPr>
          <a:xfrm>
            <a:off x="1188720" y="48737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31920" y="48737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760720" y="48737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5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589520" y="48737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5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418320" y="48737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5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5349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Focus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931920" y="5349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760720" y="5349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589520" y="5349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418320" y="5349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First Booking to a National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188" y="246888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7DB6F2"/>
          </a:solidFill>
          <a:ln/>
        </p:spPr>
      </p:sp>
      <p:sp>
        <p:nvSpPr>
          <p:cNvPr id="5" name="Text 3"/>
          <p:cNvSpPr/>
          <p:nvPr/>
        </p:nvSpPr>
        <p:spPr>
          <a:xfrm>
            <a:off x="815188" y="2468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Months 0-6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5188" y="3108960"/>
            <a:ext cx="1965960" cy="2194560"/>
          </a:xfrm>
          <a:prstGeom prst="roundRect">
            <a:avLst>
              <a:gd name="adj" fmla="val 6512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9780" y="3291840"/>
            <a:ext cx="1636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MVP &amp; onboard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providers in Riyadh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1148" y="2628900"/>
            <a:ext cx="182880" cy="164592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9" name="Shape 7"/>
          <p:cNvSpPr/>
          <p:nvPr/>
        </p:nvSpPr>
        <p:spPr>
          <a:xfrm>
            <a:off x="2964028" y="246888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EE995F"/>
          </a:solidFill>
          <a:ln/>
        </p:spPr>
      </p:sp>
      <p:sp>
        <p:nvSpPr>
          <p:cNvPr id="10" name="Text 8"/>
          <p:cNvSpPr/>
          <p:nvPr/>
        </p:nvSpPr>
        <p:spPr>
          <a:xfrm>
            <a:off x="2964028" y="2468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Months 7-12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64028" y="3108960"/>
            <a:ext cx="1965960" cy="2194560"/>
          </a:xfrm>
          <a:prstGeom prst="roundRect">
            <a:avLst>
              <a:gd name="adj" fmla="val 6512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28620" y="3291840"/>
            <a:ext cx="1636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launch, timed to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summer camp season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29988" y="2628900"/>
            <a:ext cx="182880" cy="164592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5112868" y="246888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B592E8"/>
          </a:solidFill>
          <a:ln/>
        </p:spPr>
      </p:sp>
      <p:sp>
        <p:nvSpPr>
          <p:cNvPr id="15" name="Text 13"/>
          <p:cNvSpPr/>
          <p:nvPr/>
        </p:nvSpPr>
        <p:spPr>
          <a:xfrm>
            <a:off x="5112868" y="2468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Year 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12868" y="3108960"/>
            <a:ext cx="1965960" cy="2194560"/>
          </a:xfrm>
          <a:prstGeom prst="roundRect">
            <a:avLst>
              <a:gd name="adj" fmla="val 6512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77460" y="3291840"/>
            <a:ext cx="1636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 to 300+ providers;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activity categories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78828" y="2628900"/>
            <a:ext cx="182880" cy="164592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1708" y="246888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7DB6F2"/>
          </a:solidFill>
          <a:ln/>
        </p:spPr>
      </p:sp>
      <p:sp>
        <p:nvSpPr>
          <p:cNvPr id="20" name="Text 18"/>
          <p:cNvSpPr/>
          <p:nvPr/>
        </p:nvSpPr>
        <p:spPr>
          <a:xfrm>
            <a:off x="7261708" y="2468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Year 3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1708" y="3108960"/>
            <a:ext cx="1965960" cy="2194560"/>
          </a:xfrm>
          <a:prstGeom prst="roundRect">
            <a:avLst>
              <a:gd name="adj" fmla="val 6512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26300" y="3291840"/>
            <a:ext cx="1636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to Jeddah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Dammam / Khobar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27668" y="2628900"/>
            <a:ext cx="182880" cy="164592"/>
          </a:xfrm>
          <a:prstGeom prst="chevron">
            <a:avLst/>
          </a:prstGeom>
          <a:solidFill>
            <a:srgbClr val="1F2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9410548" y="246888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EE995F"/>
          </a:solidFill>
          <a:ln/>
        </p:spPr>
      </p:sp>
      <p:sp>
        <p:nvSpPr>
          <p:cNvPr id="25" name="Text 23"/>
          <p:cNvSpPr/>
          <p:nvPr/>
        </p:nvSpPr>
        <p:spPr>
          <a:xfrm>
            <a:off x="9410548" y="2468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Years 4-5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410548" y="3108960"/>
            <a:ext cx="1965960" cy="2194560"/>
          </a:xfrm>
          <a:prstGeom prst="roundRect">
            <a:avLst>
              <a:gd name="adj" fmla="val 6512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75140" y="3291840"/>
            <a:ext cx="1636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Deepen personalization;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 the category leader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Contributing to the UN Sustainable Development Goals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9720" y="17830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832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DB6F2"/>
          </a:solidFill>
          <a:ln/>
        </p:spPr>
      </p:sp>
      <p:sp>
        <p:nvSpPr>
          <p:cNvPr id="6" name="Text 4"/>
          <p:cNvSpPr/>
          <p:nvPr/>
        </p:nvSpPr>
        <p:spPr>
          <a:xfrm>
            <a:off x="7283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8320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 Health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Well-being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8320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children active in sports and structured play, reducing screen time and sedentary habits.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1792" y="17830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0392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E995F"/>
          </a:solidFill>
          <a:ln/>
        </p:spPr>
      </p:sp>
      <p:sp>
        <p:nvSpPr>
          <p:cNvPr id="11" name="Text 9"/>
          <p:cNvSpPr/>
          <p:nvPr/>
        </p:nvSpPr>
        <p:spPr>
          <a:xfrm>
            <a:off x="359039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90392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0392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Wider access to tutoring, STEM, arts, and other informal learning beyond the classroom.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3864" y="17830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2464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B592E8"/>
          </a:solidFill>
          <a:ln/>
        </p:spPr>
      </p:sp>
      <p:sp>
        <p:nvSpPr>
          <p:cNvPr id="16" name="Text 14"/>
          <p:cNvSpPr/>
          <p:nvPr/>
        </p:nvSpPr>
        <p:spPr>
          <a:xfrm>
            <a:off x="645246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52464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Decent Work &amp;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Economic Growth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52464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Formalizes small activity providers and independent coaches with visibility, bookings, and payments.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85936" y="17830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14536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2025"/>
          </a:solidFill>
          <a:ln/>
        </p:spPr>
      </p:sp>
      <p:sp>
        <p:nvSpPr>
          <p:cNvPr id="21" name="Text 19"/>
          <p:cNvSpPr/>
          <p:nvPr/>
        </p:nvSpPr>
        <p:spPr>
          <a:xfrm>
            <a:off x="931453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14536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Reduced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Inequalities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14536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transparent marketplace levels access for families outside dense word-of-mouth networks.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SUPPORTING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310896" cy="310896"/>
          </a:xfrm>
          <a:prstGeom prst="ellipse">
            <a:avLst/>
          </a:prstGeom>
          <a:solidFill>
            <a:srgbClr val="D9D5C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257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42416" y="525780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 Equality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5257800"/>
            <a:ext cx="310896" cy="310896"/>
          </a:xfrm>
          <a:prstGeom prst="ellipse">
            <a:avLst/>
          </a:prstGeom>
          <a:solidFill>
            <a:srgbClr val="D9D5CF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5257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48456" y="525780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&amp; Innovation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5257800"/>
            <a:ext cx="310896" cy="310896"/>
          </a:xfrm>
          <a:prstGeom prst="ellipse">
            <a:avLst/>
          </a:prstGeom>
          <a:solidFill>
            <a:srgbClr val="D9D5CF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0" y="5257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54496" y="525780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 Cities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58200" y="5257800"/>
            <a:ext cx="310896" cy="310896"/>
          </a:xfrm>
          <a:prstGeom prst="ellipse">
            <a:avLst/>
          </a:prstGeom>
          <a:solidFill>
            <a:srgbClr val="D9D5CF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5257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60536" y="525780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0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Partnerships for the Goals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9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 to Profitability by Year 5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488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2148840"/>
            <a:ext cx="3596335" cy="841248"/>
          </a:xfrm>
          <a:prstGeom prst="roundRect">
            <a:avLst>
              <a:gd name="adj" fmla="val 15217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83880" y="2240280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99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SAR 12.7M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183880" y="2606040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5 revenue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(~54x Year 1)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955280" y="3127248"/>
            <a:ext cx="3596335" cy="841248"/>
          </a:xfrm>
          <a:prstGeom prst="roundRect">
            <a:avLst>
              <a:gd name="adj" fmla="val 15217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3218688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DB6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74.3%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183880" y="3584448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Year 5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955280" y="4105656"/>
            <a:ext cx="3596335" cy="841248"/>
          </a:xfrm>
          <a:prstGeom prst="roundRect">
            <a:avLst>
              <a:gd name="adj" fmla="val 15217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83880" y="4197096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592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SAR 2.4M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183880" y="4562856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income —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profitable in Year 5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955280" y="5084064"/>
            <a:ext cx="3596335" cy="841248"/>
          </a:xfrm>
          <a:prstGeom prst="roundRect">
            <a:avLst>
              <a:gd name="adj" fmla="val 15217"/>
            </a:avLst>
          </a:prstGeom>
          <a:solidFill>
            <a:srgbClr val="FAF9F7"/>
          </a:solidFill>
          <a:ln/>
          <a:effectLst>
            <a:outerShdw sx="100000" sy="100000" kx="0" ky="0" algn="bl" rotWithShape="0" blurRad="88900" dist="25400" dir="5400000">
              <a:srgbClr val="B9B2A4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83880" y="5175504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4.8 mo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183880" y="5541264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payback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(down from 28.7 in Yr 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Revenue: 10-13% commission on GMV, plus featured listings and provider subscriptions. Illustrative model — see full financial model for assumptions.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YSR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48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108960"/>
            <a:ext cx="9448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Making discovery easier.</a:t>
            </a:r>
            <a:endParaRPr lang="en-US" sz="2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F20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Creating more experiences.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0" y="43434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YSR  |  يسر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